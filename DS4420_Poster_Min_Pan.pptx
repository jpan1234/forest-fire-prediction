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6" r:id="rId5"/>
  </p:sldIdLst>
  <p:sldSz cx="420624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24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D6E03E"/>
    <a:srgbClr val="6767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BDA64D-9E92-4075-ABB8-E7B1B4669D72}" v="219" dt="2025-02-25T16:39:15.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984" autoAdjust="0"/>
    <p:restoredTop sz="92308" autoAdjust="0"/>
  </p:normalViewPr>
  <p:slideViewPr>
    <p:cSldViewPr>
      <p:cViewPr>
        <p:scale>
          <a:sx n="31" d="100"/>
          <a:sy n="31" d="100"/>
        </p:scale>
        <p:origin x="2328" y="-296"/>
      </p:cViewPr>
      <p:guideLst>
        <p:guide orient="horz" pos="10368"/>
        <p:guide pos="13248"/>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113" d="100"/>
          <a:sy n="113" d="100"/>
        </p:scale>
        <p:origin x="-642"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6A3A3A-F046-46B7-AB30-656DBACC10AF}" type="datetimeFigureOut">
              <a:rPr lang="en-US" smtClean="0"/>
              <a:t>4/14/25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9AEF78C-8154-46C3-A304-1898F7DD4727}" type="slidenum">
              <a:rPr lang="en-US" smtClean="0"/>
              <a:t>‹#›</a:t>
            </a:fld>
            <a:endParaRPr lang="en-US"/>
          </a:p>
        </p:txBody>
      </p:sp>
    </p:spTree>
    <p:extLst>
      <p:ext uri="{BB962C8B-B14F-4D97-AF65-F5344CB8AC3E}">
        <p14:creationId xmlns:p14="http://schemas.microsoft.com/office/powerpoint/2010/main" val="1879476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AAEEF9-7578-433F-ACA7-67A4266BF312}" type="datetimeFigureOut">
              <a:rPr lang="en-US" smtClean="0"/>
              <a:t>4/14/25</a:t>
            </a:fld>
            <a:endParaRPr lang="en-US"/>
          </a:p>
        </p:txBody>
      </p:sp>
      <p:sp>
        <p:nvSpPr>
          <p:cNvPr id="4" name="Slide Image Placeholder 3"/>
          <p:cNvSpPr>
            <a:spLocks noGrp="1" noRot="1" noChangeAspect="1"/>
          </p:cNvSpPr>
          <p:nvPr>
            <p:ph type="sldImg" idx="2"/>
          </p:nvPr>
        </p:nvSpPr>
        <p:spPr>
          <a:xfrm>
            <a:off x="1238250" y="685800"/>
            <a:ext cx="4381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E23624-96B6-4836-88C0-3931AE0DBC0A}" type="slidenum">
              <a:rPr lang="en-US" smtClean="0"/>
              <a:t>‹#›</a:t>
            </a:fld>
            <a:endParaRPr lang="en-US"/>
          </a:p>
        </p:txBody>
      </p:sp>
    </p:spTree>
    <p:extLst>
      <p:ext uri="{BB962C8B-B14F-4D97-AF65-F5344CB8AC3E}">
        <p14:creationId xmlns:p14="http://schemas.microsoft.com/office/powerpoint/2010/main" val="513956452"/>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10226042"/>
            <a:ext cx="35753040" cy="7056120"/>
          </a:xfrm>
        </p:spPr>
        <p:txBody>
          <a:bodyPr/>
          <a:lstStyle/>
          <a:p>
            <a:r>
              <a:rPr lang="en-US"/>
              <a:t>Click to edit Master title style</a:t>
            </a:r>
          </a:p>
        </p:txBody>
      </p:sp>
      <p:sp>
        <p:nvSpPr>
          <p:cNvPr id="3" name="Subtitle 2"/>
          <p:cNvSpPr>
            <a:spLocks noGrp="1"/>
          </p:cNvSpPr>
          <p:nvPr>
            <p:ph type="subTitle" idx="1"/>
          </p:nvPr>
        </p:nvSpPr>
        <p:spPr>
          <a:xfrm>
            <a:off x="6309360" y="18653760"/>
            <a:ext cx="29443680" cy="8412480"/>
          </a:xfrm>
        </p:spPr>
        <p:txBody>
          <a:bodyPr/>
          <a:lstStyle>
            <a:lvl1pPr marL="0" indent="0" algn="ctr">
              <a:buNone/>
              <a:defRPr>
                <a:solidFill>
                  <a:schemeClr val="tx1">
                    <a:tint val="75000"/>
                  </a:schemeClr>
                </a:solidFill>
              </a:defRPr>
            </a:lvl1pPr>
            <a:lvl2pPr marL="2103047" indent="0" algn="ctr">
              <a:buNone/>
              <a:defRPr>
                <a:solidFill>
                  <a:schemeClr val="tx1">
                    <a:tint val="75000"/>
                  </a:schemeClr>
                </a:solidFill>
              </a:defRPr>
            </a:lvl2pPr>
            <a:lvl3pPr marL="4206094" indent="0" algn="ctr">
              <a:buNone/>
              <a:defRPr>
                <a:solidFill>
                  <a:schemeClr val="tx1">
                    <a:tint val="75000"/>
                  </a:schemeClr>
                </a:solidFill>
              </a:defRPr>
            </a:lvl3pPr>
            <a:lvl4pPr marL="6309141" indent="0" algn="ctr">
              <a:buNone/>
              <a:defRPr>
                <a:solidFill>
                  <a:schemeClr val="tx1">
                    <a:tint val="75000"/>
                  </a:schemeClr>
                </a:solidFill>
              </a:defRPr>
            </a:lvl4pPr>
            <a:lvl5pPr marL="8412187" indent="0" algn="ctr">
              <a:buNone/>
              <a:defRPr>
                <a:solidFill>
                  <a:schemeClr val="tx1">
                    <a:tint val="75000"/>
                  </a:schemeClr>
                </a:solidFill>
              </a:defRPr>
            </a:lvl5pPr>
            <a:lvl6pPr marL="10515234" indent="0" algn="ctr">
              <a:buNone/>
              <a:defRPr>
                <a:solidFill>
                  <a:schemeClr val="tx1">
                    <a:tint val="75000"/>
                  </a:schemeClr>
                </a:solidFill>
              </a:defRPr>
            </a:lvl6pPr>
            <a:lvl7pPr marL="12618281" indent="0" algn="ctr">
              <a:buNone/>
              <a:defRPr>
                <a:solidFill>
                  <a:schemeClr val="tx1">
                    <a:tint val="75000"/>
                  </a:schemeClr>
                </a:solidFill>
              </a:defRPr>
            </a:lvl7pPr>
            <a:lvl8pPr marL="14721328" indent="0" algn="ctr">
              <a:buNone/>
              <a:defRPr>
                <a:solidFill>
                  <a:schemeClr val="tx1">
                    <a:tint val="75000"/>
                  </a:schemeClr>
                </a:solidFill>
              </a:defRPr>
            </a:lvl8pPr>
            <a:lvl9pPr marL="168243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E1524C-2386-4A77-AA3F-47DF77D98E67}"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
        <p:nvSpPr>
          <p:cNvPr id="7" name="Rectangle 6">
            <a:extLst>
              <a:ext uri="{FF2B5EF4-FFF2-40B4-BE49-F238E27FC236}">
                <a16:creationId xmlns:a16="http://schemas.microsoft.com/office/drawing/2014/main" id="{F5903872-9004-B642-BC40-28308312DE72}"/>
              </a:ext>
            </a:extLst>
          </p:cNvPr>
          <p:cNvSpPr/>
          <p:nvPr userDrawn="1"/>
        </p:nvSpPr>
        <p:spPr>
          <a:xfrm>
            <a:off x="0" y="-76200"/>
            <a:ext cx="42062400" cy="3200400"/>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1F99F87-202D-7E4A-82CF-5C9A77BFE3E1}"/>
              </a:ext>
            </a:extLst>
          </p:cNvPr>
          <p:cNvPicPr>
            <a:picLocks noChangeAspect="1"/>
          </p:cNvPicPr>
          <p:nvPr userDrawn="1"/>
        </p:nvPicPr>
        <p:blipFill>
          <a:blip r:embed="rId2"/>
          <a:stretch>
            <a:fillRect/>
          </a:stretch>
        </p:blipFill>
        <p:spPr>
          <a:xfrm>
            <a:off x="1239520" y="996604"/>
            <a:ext cx="10139680" cy="1422372"/>
          </a:xfrm>
          <a:prstGeom prst="rect">
            <a:avLst/>
          </a:prstGeom>
        </p:spPr>
      </p:pic>
      <p:pic>
        <p:nvPicPr>
          <p:cNvPr id="9" name="Picture 8">
            <a:extLst>
              <a:ext uri="{FF2B5EF4-FFF2-40B4-BE49-F238E27FC236}">
                <a16:creationId xmlns:a16="http://schemas.microsoft.com/office/drawing/2014/main" id="{EA2CAD84-D99F-3748-AF2C-8B1FE58D1D6D}"/>
              </a:ext>
            </a:extLst>
          </p:cNvPr>
          <p:cNvPicPr>
            <a:picLocks noChangeAspect="1"/>
          </p:cNvPicPr>
          <p:nvPr userDrawn="1"/>
        </p:nvPicPr>
        <p:blipFill>
          <a:blip r:embed="rId3"/>
          <a:stretch>
            <a:fillRect/>
          </a:stretch>
        </p:blipFill>
        <p:spPr>
          <a:xfrm>
            <a:off x="28651200" y="1197942"/>
            <a:ext cx="11684000" cy="1019695"/>
          </a:xfrm>
          <a:prstGeom prst="rect">
            <a:avLst/>
          </a:prstGeom>
        </p:spPr>
      </p:pic>
    </p:spTree>
    <p:extLst>
      <p:ext uri="{BB962C8B-B14F-4D97-AF65-F5344CB8AC3E}">
        <p14:creationId xmlns:p14="http://schemas.microsoft.com/office/powerpoint/2010/main" val="9940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3120" y="3048000"/>
            <a:ext cx="37856160" cy="3756662"/>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96338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22640" y="21153122"/>
            <a:ext cx="35753040" cy="6537960"/>
          </a:xfrm>
        </p:spPr>
        <p:txBody>
          <a:bodyPr anchor="t"/>
          <a:lstStyle>
            <a:lvl1pPr algn="l">
              <a:defRPr sz="18399" b="1" cap="all"/>
            </a:lvl1pPr>
          </a:lstStyle>
          <a:p>
            <a:r>
              <a:rPr lang="en-US"/>
              <a:t>Click to edit Master title style</a:t>
            </a:r>
          </a:p>
        </p:txBody>
      </p:sp>
      <p:sp>
        <p:nvSpPr>
          <p:cNvPr id="3" name="Text Placeholder 2"/>
          <p:cNvSpPr>
            <a:spLocks noGrp="1"/>
          </p:cNvSpPr>
          <p:nvPr>
            <p:ph type="body" idx="1"/>
          </p:nvPr>
        </p:nvSpPr>
        <p:spPr>
          <a:xfrm>
            <a:off x="3322640" y="13952226"/>
            <a:ext cx="35753040" cy="7200898"/>
          </a:xfrm>
        </p:spPr>
        <p:txBody>
          <a:bodyPr anchor="b"/>
          <a:lstStyle>
            <a:lvl1pPr marL="0" indent="0">
              <a:buNone/>
              <a:defRPr sz="9200">
                <a:solidFill>
                  <a:schemeClr val="tx1">
                    <a:tint val="75000"/>
                  </a:schemeClr>
                </a:solidFill>
              </a:defRPr>
            </a:lvl1pPr>
            <a:lvl2pPr marL="2103047" indent="0">
              <a:buNone/>
              <a:defRPr sz="8241">
                <a:solidFill>
                  <a:schemeClr val="tx1">
                    <a:tint val="75000"/>
                  </a:schemeClr>
                </a:solidFill>
              </a:defRPr>
            </a:lvl2pPr>
            <a:lvl3pPr marL="4206094" indent="0">
              <a:buNone/>
              <a:defRPr sz="7379">
                <a:solidFill>
                  <a:schemeClr val="tx1">
                    <a:tint val="75000"/>
                  </a:schemeClr>
                </a:solidFill>
              </a:defRPr>
            </a:lvl3pPr>
            <a:lvl4pPr marL="6309141" indent="0">
              <a:buNone/>
              <a:defRPr sz="6421">
                <a:solidFill>
                  <a:schemeClr val="tx1">
                    <a:tint val="75000"/>
                  </a:schemeClr>
                </a:solidFill>
              </a:defRPr>
            </a:lvl4pPr>
            <a:lvl5pPr marL="8412187" indent="0">
              <a:buNone/>
              <a:defRPr sz="6421">
                <a:solidFill>
                  <a:schemeClr val="tx1">
                    <a:tint val="75000"/>
                  </a:schemeClr>
                </a:solidFill>
              </a:defRPr>
            </a:lvl5pPr>
            <a:lvl6pPr marL="10515234" indent="0">
              <a:buNone/>
              <a:defRPr sz="6421">
                <a:solidFill>
                  <a:schemeClr val="tx1">
                    <a:tint val="75000"/>
                  </a:schemeClr>
                </a:solidFill>
              </a:defRPr>
            </a:lvl6pPr>
            <a:lvl7pPr marL="12618281" indent="0">
              <a:buNone/>
              <a:defRPr sz="6421">
                <a:solidFill>
                  <a:schemeClr val="tx1">
                    <a:tint val="75000"/>
                  </a:schemeClr>
                </a:solidFill>
              </a:defRPr>
            </a:lvl7pPr>
            <a:lvl8pPr marL="14721328" indent="0">
              <a:buNone/>
              <a:defRPr sz="6421">
                <a:solidFill>
                  <a:schemeClr val="tx1">
                    <a:tint val="75000"/>
                  </a:schemeClr>
                </a:solidFill>
              </a:defRPr>
            </a:lvl8pPr>
            <a:lvl9pPr marL="16824375" indent="0">
              <a:buNone/>
              <a:defRPr sz="642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E1524C-2386-4A77-AA3F-47DF77D98E67}"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77649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031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3817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E1524C-2386-4A77-AA3F-47DF77D98E67}" type="datetimeFigureOut">
              <a:rPr lang="en-US" smtClean="0"/>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62457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03123" y="7368543"/>
            <a:ext cx="185848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4" name="Content Placeholder 3"/>
          <p:cNvSpPr>
            <a:spLocks noGrp="1"/>
          </p:cNvSpPr>
          <p:nvPr>
            <p:ph sz="half" idx="2"/>
          </p:nvPr>
        </p:nvSpPr>
        <p:spPr>
          <a:xfrm>
            <a:off x="2103123" y="10439401"/>
            <a:ext cx="185848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367118" y="7368543"/>
            <a:ext cx="185921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6" name="Content Placeholder 5"/>
          <p:cNvSpPr>
            <a:spLocks noGrp="1"/>
          </p:cNvSpPr>
          <p:nvPr>
            <p:ph sz="quarter" idx="4"/>
          </p:nvPr>
        </p:nvSpPr>
        <p:spPr>
          <a:xfrm>
            <a:off x="21367118" y="10439401"/>
            <a:ext cx="185921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E1524C-2386-4A77-AA3F-47DF77D98E67}" type="datetimeFigureOut">
              <a:rPr lang="en-US" smtClean="0"/>
              <a:t>4/14/25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2316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E1524C-2386-4A77-AA3F-47DF77D98E67}" type="datetimeFigureOut">
              <a:rPr lang="en-US" smtClean="0"/>
              <a:t>4/14/25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19476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E1524C-2386-4A77-AA3F-47DF77D98E67}" type="datetimeFigureOut">
              <a:rPr lang="en-US" smtClean="0"/>
              <a:t>4/14/25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40443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3125" y="1310640"/>
            <a:ext cx="13838240" cy="5577840"/>
          </a:xfrm>
        </p:spPr>
        <p:txBody>
          <a:bodyPr anchor="b"/>
          <a:lstStyle>
            <a:lvl1pPr algn="l">
              <a:defRPr sz="9200" b="1"/>
            </a:lvl1pPr>
          </a:lstStyle>
          <a:p>
            <a:r>
              <a:rPr lang="en-US"/>
              <a:t>Click to edit Master title style</a:t>
            </a:r>
          </a:p>
        </p:txBody>
      </p:sp>
      <p:sp>
        <p:nvSpPr>
          <p:cNvPr id="3" name="Content Placeholder 2"/>
          <p:cNvSpPr>
            <a:spLocks noGrp="1"/>
          </p:cNvSpPr>
          <p:nvPr>
            <p:ph idx="1"/>
          </p:nvPr>
        </p:nvSpPr>
        <p:spPr>
          <a:xfrm>
            <a:off x="16445230" y="1310644"/>
            <a:ext cx="23514050" cy="28094942"/>
          </a:xfrm>
        </p:spPr>
        <p:txBody>
          <a:bodyPr/>
          <a:lstStyle>
            <a:lvl1pPr>
              <a:defRPr sz="14758"/>
            </a:lvl1pPr>
            <a:lvl2pPr>
              <a:defRPr sz="12841"/>
            </a:lvl2pPr>
            <a:lvl3pPr>
              <a:defRPr sz="1102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03125" y="6888484"/>
            <a:ext cx="13838240" cy="22517102"/>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11344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44525" y="23042881"/>
            <a:ext cx="25237440" cy="2720342"/>
          </a:xfrm>
        </p:spPr>
        <p:txBody>
          <a:bodyPr anchor="b"/>
          <a:lstStyle>
            <a:lvl1pPr algn="l">
              <a:defRPr sz="9200" b="1"/>
            </a:lvl1pPr>
          </a:lstStyle>
          <a:p>
            <a:r>
              <a:rPr lang="en-US"/>
              <a:t>Click to edit Master title style</a:t>
            </a:r>
          </a:p>
        </p:txBody>
      </p:sp>
      <p:sp>
        <p:nvSpPr>
          <p:cNvPr id="3" name="Picture Placeholder 2"/>
          <p:cNvSpPr>
            <a:spLocks noGrp="1"/>
          </p:cNvSpPr>
          <p:nvPr>
            <p:ph type="pic" idx="1"/>
          </p:nvPr>
        </p:nvSpPr>
        <p:spPr>
          <a:xfrm>
            <a:off x="8244525" y="2941320"/>
            <a:ext cx="25237440" cy="19751040"/>
          </a:xfrm>
        </p:spPr>
        <p:txBody>
          <a:bodyPr/>
          <a:lstStyle>
            <a:lvl1pPr marL="0" indent="0">
              <a:buNone/>
              <a:defRPr sz="14758"/>
            </a:lvl1pPr>
            <a:lvl2pPr marL="2103047" indent="0">
              <a:buNone/>
              <a:defRPr sz="12841"/>
            </a:lvl2pPr>
            <a:lvl3pPr marL="4206094" indent="0">
              <a:buNone/>
              <a:defRPr sz="11020"/>
            </a:lvl3pPr>
            <a:lvl4pPr marL="6309141" indent="0">
              <a:buNone/>
              <a:defRPr sz="9200"/>
            </a:lvl4pPr>
            <a:lvl5pPr marL="8412187" indent="0">
              <a:buNone/>
              <a:defRPr sz="9200"/>
            </a:lvl5pPr>
            <a:lvl6pPr marL="10515234" indent="0">
              <a:buNone/>
              <a:defRPr sz="9200"/>
            </a:lvl6pPr>
            <a:lvl7pPr marL="12618281" indent="0">
              <a:buNone/>
              <a:defRPr sz="9200"/>
            </a:lvl7pPr>
            <a:lvl8pPr marL="14721328" indent="0">
              <a:buNone/>
              <a:defRPr sz="9200"/>
            </a:lvl8pPr>
            <a:lvl9pPr marL="16824375" indent="0">
              <a:buNone/>
              <a:defRPr sz="9200"/>
            </a:lvl9pPr>
          </a:lstStyle>
          <a:p>
            <a:endParaRPr lang="en-US"/>
          </a:p>
        </p:txBody>
      </p:sp>
      <p:sp>
        <p:nvSpPr>
          <p:cNvPr id="4" name="Text Placeholder 3"/>
          <p:cNvSpPr>
            <a:spLocks noGrp="1"/>
          </p:cNvSpPr>
          <p:nvPr>
            <p:ph type="body" sz="half" idx="2"/>
          </p:nvPr>
        </p:nvSpPr>
        <p:spPr>
          <a:xfrm>
            <a:off x="8244525" y="25763223"/>
            <a:ext cx="25237440" cy="3863338"/>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4/14/25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02462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8256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495240" y="1318265"/>
            <a:ext cx="946404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03120" y="1318265"/>
            <a:ext cx="2769108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89900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03120" y="1318262"/>
            <a:ext cx="3785616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03120" y="7680964"/>
            <a:ext cx="3785616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03120" y="30510482"/>
            <a:ext cx="9814560" cy="1752600"/>
          </a:xfrm>
          <a:prstGeom prst="rect">
            <a:avLst/>
          </a:prstGeom>
        </p:spPr>
        <p:txBody>
          <a:bodyPr vert="horz" lIns="438912" tIns="219456" rIns="438912" bIns="219456" rtlCol="0" anchor="ctr"/>
          <a:lstStyle>
            <a:lvl1pPr algn="l">
              <a:defRPr sz="5558">
                <a:solidFill>
                  <a:schemeClr val="tx1">
                    <a:tint val="75000"/>
                  </a:schemeClr>
                </a:solidFill>
              </a:defRPr>
            </a:lvl1pPr>
          </a:lstStyle>
          <a:p>
            <a:fld id="{24E1524C-2386-4A77-AA3F-47DF77D98E67}" type="datetimeFigureOut">
              <a:rPr lang="en-US" smtClean="0"/>
              <a:t>4/14/25</a:t>
            </a:fld>
            <a:endParaRPr lang="en-US"/>
          </a:p>
        </p:txBody>
      </p:sp>
      <p:sp>
        <p:nvSpPr>
          <p:cNvPr id="5" name="Footer Placeholder 4"/>
          <p:cNvSpPr>
            <a:spLocks noGrp="1"/>
          </p:cNvSpPr>
          <p:nvPr>
            <p:ph type="ftr" sz="quarter" idx="3"/>
          </p:nvPr>
        </p:nvSpPr>
        <p:spPr>
          <a:xfrm>
            <a:off x="14371320" y="30510482"/>
            <a:ext cx="13319760" cy="1752600"/>
          </a:xfrm>
          <a:prstGeom prst="rect">
            <a:avLst/>
          </a:prstGeom>
        </p:spPr>
        <p:txBody>
          <a:bodyPr vert="horz" lIns="438912" tIns="219456" rIns="438912" bIns="219456" rtlCol="0" anchor="ctr"/>
          <a:lstStyle>
            <a:lvl1pPr algn="ctr">
              <a:defRPr sz="555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144720" y="30510482"/>
            <a:ext cx="9814560" cy="1752600"/>
          </a:xfrm>
          <a:prstGeom prst="rect">
            <a:avLst/>
          </a:prstGeom>
        </p:spPr>
        <p:txBody>
          <a:bodyPr vert="horz" lIns="438912" tIns="219456" rIns="438912" bIns="219456" rtlCol="0" anchor="ctr"/>
          <a:lstStyle>
            <a:lvl1pPr algn="r">
              <a:defRPr sz="5558">
                <a:solidFill>
                  <a:schemeClr val="tx1">
                    <a:tint val="75000"/>
                  </a:schemeClr>
                </a:solidFill>
              </a:defRPr>
            </a:lvl1pPr>
          </a:lstStyle>
          <a:p>
            <a:fld id="{47C0857A-08FC-4098-8B90-E25E1691C69A}" type="slidenum">
              <a:rPr lang="en-US" smtClean="0"/>
              <a:t>‹#›</a:t>
            </a:fld>
            <a:endParaRPr lang="en-US"/>
          </a:p>
        </p:txBody>
      </p:sp>
      <p:sp>
        <p:nvSpPr>
          <p:cNvPr id="7" name="Rectangle 6"/>
          <p:cNvSpPr/>
          <p:nvPr userDrawn="1"/>
        </p:nvSpPr>
        <p:spPr>
          <a:xfrm>
            <a:off x="0" y="-8022"/>
            <a:ext cx="42062400" cy="30861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41" dirty="0"/>
          </a:p>
        </p:txBody>
      </p:sp>
      <p:pic>
        <p:nvPicPr>
          <p:cNvPr id="19" name="Picture 18">
            <a:extLst>
              <a:ext uri="{FF2B5EF4-FFF2-40B4-BE49-F238E27FC236}">
                <a16:creationId xmlns:a16="http://schemas.microsoft.com/office/drawing/2014/main" id="{47613778-1994-7F4E-957C-2C13E92676E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1175" y="-674973"/>
            <a:ext cx="13875165" cy="5354722"/>
          </a:xfrm>
          <a:prstGeom prst="rect">
            <a:avLst/>
          </a:prstGeom>
        </p:spPr>
      </p:pic>
      <p:pic>
        <p:nvPicPr>
          <p:cNvPr id="21" name="Picture 20">
            <a:extLst>
              <a:ext uri="{FF2B5EF4-FFF2-40B4-BE49-F238E27FC236}">
                <a16:creationId xmlns:a16="http://schemas.microsoft.com/office/drawing/2014/main" id="{783D97CA-2D64-7045-A598-731D03607CF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4463375" y="1066801"/>
            <a:ext cx="16007080" cy="1434099"/>
          </a:xfrm>
          <a:prstGeom prst="rect">
            <a:avLst/>
          </a:prstGeom>
        </p:spPr>
      </p:pic>
    </p:spTree>
    <p:extLst>
      <p:ext uri="{BB962C8B-B14F-4D97-AF65-F5344CB8AC3E}">
        <p14:creationId xmlns:p14="http://schemas.microsoft.com/office/powerpoint/2010/main" val="119043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206094" rtl="0" eaLnBrk="1" latinLnBrk="0" hangingPunct="1">
        <a:spcBef>
          <a:spcPct val="0"/>
        </a:spcBef>
        <a:buNone/>
        <a:defRPr sz="20220" kern="1200">
          <a:solidFill>
            <a:schemeClr val="tx1"/>
          </a:solidFill>
          <a:latin typeface="+mj-lt"/>
          <a:ea typeface="+mj-ea"/>
          <a:cs typeface="+mj-cs"/>
        </a:defRPr>
      </a:lvl1pPr>
    </p:titleStyle>
    <p:bodyStyle>
      <a:lvl1pPr marL="1577285" indent="-1577285" algn="l" defTabSz="4206094" rtl="0" eaLnBrk="1" latinLnBrk="0" hangingPunct="1">
        <a:spcBef>
          <a:spcPct val="20000"/>
        </a:spcBef>
        <a:buFont typeface="Arial" pitchFamily="34" charset="0"/>
        <a:buChar char="•"/>
        <a:defRPr sz="14758" kern="1200">
          <a:solidFill>
            <a:schemeClr val="tx1"/>
          </a:solidFill>
          <a:latin typeface="+mn-lt"/>
          <a:ea typeface="+mn-ea"/>
          <a:cs typeface="+mn-cs"/>
        </a:defRPr>
      </a:lvl1pPr>
      <a:lvl2pPr marL="3417451" indent="-1314404" algn="l" defTabSz="4206094" rtl="0" eaLnBrk="1" latinLnBrk="0" hangingPunct="1">
        <a:spcBef>
          <a:spcPct val="20000"/>
        </a:spcBef>
        <a:buFont typeface="Arial" pitchFamily="34" charset="0"/>
        <a:buChar char="–"/>
        <a:defRPr sz="12841" kern="1200">
          <a:solidFill>
            <a:schemeClr val="tx1"/>
          </a:solidFill>
          <a:latin typeface="+mn-lt"/>
          <a:ea typeface="+mn-ea"/>
          <a:cs typeface="+mn-cs"/>
        </a:defRPr>
      </a:lvl2pPr>
      <a:lvl3pPr marL="5257617" indent="-1051523" algn="l" defTabSz="4206094" rtl="0" eaLnBrk="1" latinLnBrk="0" hangingPunct="1">
        <a:spcBef>
          <a:spcPct val="20000"/>
        </a:spcBef>
        <a:buFont typeface="Arial" pitchFamily="34" charset="0"/>
        <a:buChar char="•"/>
        <a:defRPr sz="11020" kern="1200">
          <a:solidFill>
            <a:schemeClr val="tx1"/>
          </a:solidFill>
          <a:latin typeface="+mn-lt"/>
          <a:ea typeface="+mn-ea"/>
          <a:cs typeface="+mn-cs"/>
        </a:defRPr>
      </a:lvl3pPr>
      <a:lvl4pPr marL="7360664"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46371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56675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669805"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77285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87589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en-US"/>
      </a:defPPr>
      <a:lvl1pPr marL="0" algn="l" defTabSz="4206094" rtl="0" eaLnBrk="1" latinLnBrk="0" hangingPunct="1">
        <a:defRPr sz="8241" kern="1200">
          <a:solidFill>
            <a:schemeClr val="tx1"/>
          </a:solidFill>
          <a:latin typeface="+mn-lt"/>
          <a:ea typeface="+mn-ea"/>
          <a:cs typeface="+mn-cs"/>
        </a:defRPr>
      </a:lvl1pPr>
      <a:lvl2pPr marL="2103047" algn="l" defTabSz="4206094" rtl="0" eaLnBrk="1" latinLnBrk="0" hangingPunct="1">
        <a:defRPr sz="8241" kern="1200">
          <a:solidFill>
            <a:schemeClr val="tx1"/>
          </a:solidFill>
          <a:latin typeface="+mn-lt"/>
          <a:ea typeface="+mn-ea"/>
          <a:cs typeface="+mn-cs"/>
        </a:defRPr>
      </a:lvl2pPr>
      <a:lvl3pPr marL="4206094" algn="l" defTabSz="4206094" rtl="0" eaLnBrk="1" latinLnBrk="0" hangingPunct="1">
        <a:defRPr sz="8241" kern="1200">
          <a:solidFill>
            <a:schemeClr val="tx1"/>
          </a:solidFill>
          <a:latin typeface="+mn-lt"/>
          <a:ea typeface="+mn-ea"/>
          <a:cs typeface="+mn-cs"/>
        </a:defRPr>
      </a:lvl3pPr>
      <a:lvl4pPr marL="6309141" algn="l" defTabSz="4206094" rtl="0" eaLnBrk="1" latinLnBrk="0" hangingPunct="1">
        <a:defRPr sz="8241" kern="1200">
          <a:solidFill>
            <a:schemeClr val="tx1"/>
          </a:solidFill>
          <a:latin typeface="+mn-lt"/>
          <a:ea typeface="+mn-ea"/>
          <a:cs typeface="+mn-cs"/>
        </a:defRPr>
      </a:lvl4pPr>
      <a:lvl5pPr marL="8412187" algn="l" defTabSz="4206094" rtl="0" eaLnBrk="1" latinLnBrk="0" hangingPunct="1">
        <a:defRPr sz="8241" kern="1200">
          <a:solidFill>
            <a:schemeClr val="tx1"/>
          </a:solidFill>
          <a:latin typeface="+mn-lt"/>
          <a:ea typeface="+mn-ea"/>
          <a:cs typeface="+mn-cs"/>
        </a:defRPr>
      </a:lvl5pPr>
      <a:lvl6pPr marL="10515234" algn="l" defTabSz="4206094" rtl="0" eaLnBrk="1" latinLnBrk="0" hangingPunct="1">
        <a:defRPr sz="8241" kern="1200">
          <a:solidFill>
            <a:schemeClr val="tx1"/>
          </a:solidFill>
          <a:latin typeface="+mn-lt"/>
          <a:ea typeface="+mn-ea"/>
          <a:cs typeface="+mn-cs"/>
        </a:defRPr>
      </a:lvl6pPr>
      <a:lvl7pPr marL="12618281" algn="l" defTabSz="4206094" rtl="0" eaLnBrk="1" latinLnBrk="0" hangingPunct="1">
        <a:defRPr sz="8241" kern="1200">
          <a:solidFill>
            <a:schemeClr val="tx1"/>
          </a:solidFill>
          <a:latin typeface="+mn-lt"/>
          <a:ea typeface="+mn-ea"/>
          <a:cs typeface="+mn-cs"/>
        </a:defRPr>
      </a:lvl7pPr>
      <a:lvl8pPr marL="14721328" algn="l" defTabSz="4206094" rtl="0" eaLnBrk="1" latinLnBrk="0" hangingPunct="1">
        <a:defRPr sz="8241" kern="1200">
          <a:solidFill>
            <a:schemeClr val="tx1"/>
          </a:solidFill>
          <a:latin typeface="+mn-lt"/>
          <a:ea typeface="+mn-ea"/>
          <a:cs typeface="+mn-cs"/>
        </a:defRPr>
      </a:lvl8pPr>
      <a:lvl9pPr marL="16824375" algn="l" defTabSz="4206094" rtl="0" eaLnBrk="1" latinLnBrk="0" hangingPunct="1">
        <a:defRPr sz="8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hyperlink" Target="https://doi.org/10.3390/f14091697" TargetMode="External"/><Relationship Id="rId11" Type="http://schemas.openxmlformats.org/officeDocument/2006/relationships/image" Target="../media/image12.png"/><Relationship Id="rId5" Type="http://schemas.openxmlformats.org/officeDocument/2006/relationships/hyperlink" Target="http://www.dsi.uminho.pt/~pcortez/fires.pdf" TargetMode="External"/><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1">
            <a:extLst>
              <a:ext uri="{FF2B5EF4-FFF2-40B4-BE49-F238E27FC236}">
                <a16:creationId xmlns:a16="http://schemas.microsoft.com/office/drawing/2014/main" id="{3AC76372-1984-9FB3-0921-DEC9E30EE511}"/>
              </a:ext>
            </a:extLst>
          </p:cNvPr>
          <p:cNvSpPr txBox="1"/>
          <p:nvPr/>
        </p:nvSpPr>
        <p:spPr>
          <a:xfrm>
            <a:off x="1899986" y="3352800"/>
            <a:ext cx="38262427" cy="2245358"/>
          </a:xfrm>
          <a:prstGeom prst="rect">
            <a:avLst/>
          </a:prstGeom>
          <a:noFill/>
        </p:spPr>
        <p:txBody>
          <a:bodyPr wrap="square" rtlCol="0">
            <a:sp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8241" b="1" dirty="0">
                <a:latin typeface="Lato" panose="020F0502020204030203" pitchFamily="34" charset="77"/>
              </a:rPr>
              <a:t>Predicting Wildfire Severity and Occurrences using MLP and CNN models</a:t>
            </a:r>
          </a:p>
          <a:p>
            <a:pPr algn="ctr"/>
            <a:r>
              <a:rPr lang="en-US" sz="5750" dirty="0">
                <a:latin typeface="Lato" panose="020F0502020204030203" pitchFamily="34" charset="77"/>
              </a:rPr>
              <a:t>Jeffrey Pan and Jocelyn Min</a:t>
            </a:r>
            <a:endParaRPr lang="en-US" sz="8241" dirty="0">
              <a:latin typeface="Lato" panose="020F0502020204030203" pitchFamily="34" charset="77"/>
            </a:endParaRPr>
          </a:p>
        </p:txBody>
      </p:sp>
      <p:sp>
        <p:nvSpPr>
          <p:cNvPr id="14" name="Shape 68">
            <a:extLst>
              <a:ext uri="{FF2B5EF4-FFF2-40B4-BE49-F238E27FC236}">
                <a16:creationId xmlns:a16="http://schemas.microsoft.com/office/drawing/2014/main" id="{D5D17805-1F6F-B067-EF24-A91B26EE060A}"/>
              </a:ext>
            </a:extLst>
          </p:cNvPr>
          <p:cNvSpPr txBox="1"/>
          <p:nvPr/>
        </p:nvSpPr>
        <p:spPr>
          <a:xfrm>
            <a:off x="827068" y="5876588"/>
            <a:ext cx="12583049" cy="972336"/>
          </a:xfrm>
          <a:prstGeom prst="rect">
            <a:avLst/>
          </a:prstGeom>
          <a:solidFill>
            <a:srgbClr val="C8102E"/>
          </a:solidFill>
          <a:ln>
            <a:noFill/>
          </a:ln>
        </p:spPr>
        <p:txBody>
          <a:bodyPr lIns="72551" tIns="72551" rIns="72551" bIns="72551"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Purpose  and Objectives</a:t>
            </a:r>
          </a:p>
        </p:txBody>
      </p:sp>
      <p:sp>
        <p:nvSpPr>
          <p:cNvPr id="15" name="Shape 70">
            <a:extLst>
              <a:ext uri="{FF2B5EF4-FFF2-40B4-BE49-F238E27FC236}">
                <a16:creationId xmlns:a16="http://schemas.microsoft.com/office/drawing/2014/main" id="{1129EB91-8FF0-9AA1-0C74-E786E45389B8}"/>
              </a:ext>
            </a:extLst>
          </p:cNvPr>
          <p:cNvSpPr txBox="1"/>
          <p:nvPr/>
        </p:nvSpPr>
        <p:spPr>
          <a:xfrm>
            <a:off x="827069" y="16973936"/>
            <a:ext cx="12583048" cy="939422"/>
          </a:xfrm>
          <a:prstGeom prst="rect">
            <a:avLst/>
          </a:prstGeom>
          <a:solidFill>
            <a:srgbClr val="C8102E"/>
          </a:solidFill>
          <a:ln>
            <a:noFill/>
          </a:ln>
        </p:spPr>
        <p:txBody>
          <a:bodyPr lIns="101583" tIns="101583" rIns="101583" bIns="101583"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Methodology &amp; Model Architecture</a:t>
            </a:r>
          </a:p>
        </p:txBody>
      </p:sp>
      <p:sp>
        <p:nvSpPr>
          <p:cNvPr id="17" name="Shape 79">
            <a:extLst>
              <a:ext uri="{FF2B5EF4-FFF2-40B4-BE49-F238E27FC236}">
                <a16:creationId xmlns:a16="http://schemas.microsoft.com/office/drawing/2014/main" id="{29101814-3FE1-391D-A422-4BC9B92BF765}"/>
              </a:ext>
            </a:extLst>
          </p:cNvPr>
          <p:cNvSpPr txBox="1"/>
          <p:nvPr/>
        </p:nvSpPr>
        <p:spPr>
          <a:xfrm>
            <a:off x="14038011" y="5846516"/>
            <a:ext cx="27197317" cy="1001890"/>
          </a:xfrm>
          <a:prstGeom prst="rect">
            <a:avLst/>
          </a:prstGeom>
          <a:solidFill>
            <a:srgbClr val="C8102E"/>
          </a:solidFill>
          <a:ln>
            <a:noFill/>
          </a:ln>
        </p:spPr>
        <p:txBody>
          <a:bodyPr lIns="101583" tIns="101583" rIns="101583" bIns="101583"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Results and Discussion</a:t>
            </a:r>
          </a:p>
        </p:txBody>
      </p:sp>
      <p:cxnSp>
        <p:nvCxnSpPr>
          <p:cNvPr id="24" name="Straight Connector 23">
            <a:extLst>
              <a:ext uri="{FF2B5EF4-FFF2-40B4-BE49-F238E27FC236}">
                <a16:creationId xmlns:a16="http://schemas.microsoft.com/office/drawing/2014/main" id="{8166469B-9C52-51F8-47E3-F642592D2947}"/>
              </a:ext>
            </a:extLst>
          </p:cNvPr>
          <p:cNvCxnSpPr>
            <a:cxnSpLocks/>
          </p:cNvCxnSpPr>
          <p:nvPr/>
        </p:nvCxnSpPr>
        <p:spPr>
          <a:xfrm>
            <a:off x="-3566877" y="2725349"/>
            <a:ext cx="0" cy="9071640"/>
          </a:xfrm>
          <a:prstGeom prst="line">
            <a:avLst/>
          </a:prstGeom>
          <a:ln>
            <a:solidFill>
              <a:srgbClr val="C00000"/>
            </a:solidFill>
          </a:ln>
        </p:spPr>
        <p:style>
          <a:lnRef idx="2">
            <a:schemeClr val="accent3"/>
          </a:lnRef>
          <a:fillRef idx="0">
            <a:schemeClr val="accent3"/>
          </a:fillRef>
          <a:effectRef idx="1">
            <a:schemeClr val="accent3"/>
          </a:effectRef>
          <a:fontRef idx="minor">
            <a:schemeClr val="tx1"/>
          </a:fontRef>
        </p:style>
      </p:cxnSp>
      <p:sp>
        <p:nvSpPr>
          <p:cNvPr id="8" name="Rectangle 7">
            <a:extLst>
              <a:ext uri="{FF2B5EF4-FFF2-40B4-BE49-F238E27FC236}">
                <a16:creationId xmlns:a16="http://schemas.microsoft.com/office/drawing/2014/main" id="{A0B1654C-0B11-4E5F-4EE1-EFE9DDD8E6AC}"/>
              </a:ext>
            </a:extLst>
          </p:cNvPr>
          <p:cNvSpPr/>
          <p:nvPr/>
        </p:nvSpPr>
        <p:spPr>
          <a:xfrm>
            <a:off x="0" y="0"/>
            <a:ext cx="11887200" cy="2819400"/>
          </a:xfrm>
          <a:prstGeom prst="rect">
            <a:avLst/>
          </a:prstGeom>
          <a:solidFill>
            <a:srgbClr val="C810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7151A1B-7427-E648-AC14-54501F81AC67}"/>
              </a:ext>
            </a:extLst>
          </p:cNvPr>
          <p:cNvSpPr txBox="1"/>
          <p:nvPr/>
        </p:nvSpPr>
        <p:spPr>
          <a:xfrm>
            <a:off x="762000" y="457200"/>
            <a:ext cx="14865139" cy="1938992"/>
          </a:xfrm>
          <a:prstGeom prst="rect">
            <a:avLst/>
          </a:prstGeom>
          <a:noFill/>
        </p:spPr>
        <p:txBody>
          <a:bodyPr wrap="square" rtlCol="0">
            <a:spAutoFit/>
          </a:bodyPr>
          <a:lstStyle/>
          <a:p>
            <a:r>
              <a:rPr lang="en-US" sz="6000" dirty="0">
                <a:solidFill>
                  <a:schemeClr val="bg1"/>
                </a:solidFill>
                <a:latin typeface="Lato" panose="020F0502020204030203" pitchFamily="34" charset="0"/>
                <a:ea typeface="Lato" panose="020F0502020204030203" pitchFamily="34" charset="0"/>
                <a:cs typeface="Lato" panose="020F0502020204030203" pitchFamily="34" charset="0"/>
              </a:rPr>
              <a:t>Final Project</a:t>
            </a:r>
          </a:p>
          <a:p>
            <a:r>
              <a:rPr lang="en-US" sz="6000" dirty="0">
                <a:solidFill>
                  <a:schemeClr val="bg1"/>
                </a:solidFill>
                <a:latin typeface="Lato" panose="020F0502020204030203" pitchFamily="34" charset="0"/>
                <a:ea typeface="Lato" panose="020F0502020204030203" pitchFamily="34" charset="0"/>
                <a:cs typeface="Lato" panose="020F0502020204030203" pitchFamily="34" charset="0"/>
              </a:rPr>
              <a:t>DS 4420 – Machine Learning 2</a:t>
            </a:r>
          </a:p>
        </p:txBody>
      </p:sp>
      <p:sp>
        <p:nvSpPr>
          <p:cNvPr id="3" name="TextBox 2">
            <a:extLst>
              <a:ext uri="{FF2B5EF4-FFF2-40B4-BE49-F238E27FC236}">
                <a16:creationId xmlns:a16="http://schemas.microsoft.com/office/drawing/2014/main" id="{E00857F7-2F89-0EB6-AB29-E92D1F7ABB2B}"/>
              </a:ext>
            </a:extLst>
          </p:cNvPr>
          <p:cNvSpPr txBox="1"/>
          <p:nvPr/>
        </p:nvSpPr>
        <p:spPr>
          <a:xfrm>
            <a:off x="908379" y="7227663"/>
            <a:ext cx="12501740" cy="9223038"/>
          </a:xfrm>
          <a:prstGeom prst="rect">
            <a:avLst/>
          </a:prstGeom>
          <a:noFill/>
        </p:spPr>
        <p:txBody>
          <a:bodyPr wrap="square" rtlCol="0">
            <a:spAutoFit/>
          </a:bodyPr>
          <a:lstStyle/>
          <a:p>
            <a:pPr>
              <a:spcBef>
                <a:spcPts val="2000"/>
              </a:spcBef>
            </a:pPr>
            <a:r>
              <a:rPr lang="en-US" sz="4000" dirty="0"/>
              <a:t>The purpose of this project is to utilize Multi-Layer Perceptron and Convolutional Neural Networks to predict wildfires and their severity. We want to test their performance to see if they can work in tandem to identify and predict fire severity.</a:t>
            </a:r>
          </a:p>
          <a:p>
            <a:pPr>
              <a:spcBef>
                <a:spcPts val="2000"/>
              </a:spcBef>
            </a:pPr>
            <a:r>
              <a:rPr lang="en-US" sz="4000" dirty="0"/>
              <a:t>MLP uses structured forest fire data containing Fire Weather Index (FWI) values, temporal data, and location to be trained and tested on. It attempts to predict the area of forest fire damage in log-scaled hectares. This dataset contains 517 records.</a:t>
            </a:r>
          </a:p>
          <a:p>
            <a:pPr>
              <a:spcBef>
                <a:spcPts val="2000"/>
              </a:spcBef>
            </a:pPr>
            <a:r>
              <a:rPr lang="en-US" sz="4000" dirty="0"/>
              <a:t>CNN uses RGB images of fire v. no-fire to be trained and tested on. It attempts to accurately predict whether an area will be impacted by fires or not. This dataset contains 2699 records.</a:t>
            </a:r>
            <a:endParaRPr lang="en-US" sz="4400" dirty="0"/>
          </a:p>
        </p:txBody>
      </p:sp>
      <p:pic>
        <p:nvPicPr>
          <p:cNvPr id="12" name="Picture 11" descr="A large fire in the mountains&#10;&#10;AI-generated content may be incorrect.">
            <a:extLst>
              <a:ext uri="{FF2B5EF4-FFF2-40B4-BE49-F238E27FC236}">
                <a16:creationId xmlns:a16="http://schemas.microsoft.com/office/drawing/2014/main" id="{CC5303F7-007C-A907-F701-6BF930784B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9307" y="27172394"/>
            <a:ext cx="5313155" cy="3439403"/>
          </a:xfrm>
          <a:prstGeom prst="rect">
            <a:avLst/>
          </a:prstGeom>
        </p:spPr>
      </p:pic>
      <p:sp>
        <p:nvSpPr>
          <p:cNvPr id="25" name="TextBox 24">
            <a:extLst>
              <a:ext uri="{FF2B5EF4-FFF2-40B4-BE49-F238E27FC236}">
                <a16:creationId xmlns:a16="http://schemas.microsoft.com/office/drawing/2014/main" id="{3F69E898-CB58-787D-3FE7-C1A472AC79CC}"/>
              </a:ext>
            </a:extLst>
          </p:cNvPr>
          <p:cNvSpPr txBox="1"/>
          <p:nvPr/>
        </p:nvSpPr>
        <p:spPr>
          <a:xfrm>
            <a:off x="1075888" y="31038178"/>
            <a:ext cx="6009633"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1. A fire image from ”The Wildfire Dataset” [2]. </a:t>
            </a:r>
            <a:endParaRPr lang="en-US" sz="2800" dirty="0"/>
          </a:p>
        </p:txBody>
      </p:sp>
      <p:pic>
        <p:nvPicPr>
          <p:cNvPr id="1026" name="Picture 2">
            <a:extLst>
              <a:ext uri="{FF2B5EF4-FFF2-40B4-BE49-F238E27FC236}">
                <a16:creationId xmlns:a16="http://schemas.microsoft.com/office/drawing/2014/main" id="{ADAA3AD7-054A-0537-9858-F157E5B95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63411" y="17089353"/>
            <a:ext cx="12105838" cy="49858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A3E5D3C-D891-4D10-9A1C-BAF66B5506DC}"/>
              </a:ext>
            </a:extLst>
          </p:cNvPr>
          <p:cNvSpPr txBox="1"/>
          <p:nvPr/>
        </p:nvSpPr>
        <p:spPr>
          <a:xfrm>
            <a:off x="908380" y="18351566"/>
            <a:ext cx="12583048" cy="8217634"/>
          </a:xfrm>
          <a:prstGeom prst="rect">
            <a:avLst/>
          </a:prstGeom>
          <a:noFill/>
        </p:spPr>
        <p:txBody>
          <a:bodyPr wrap="square">
            <a:spAutoFit/>
          </a:bodyPr>
          <a:lstStyle/>
          <a:p>
            <a:pPr>
              <a:buNone/>
            </a:pPr>
            <a:r>
              <a:rPr lang="en-US" sz="4400" b="1" dirty="0"/>
              <a:t>Multilayer Perceptron (MLP):</a:t>
            </a:r>
            <a:endParaRPr lang="en-US" sz="4400" dirty="0"/>
          </a:p>
          <a:p>
            <a:pPr marL="685800" indent="-685800">
              <a:buFontTx/>
              <a:buChar char="-"/>
            </a:pPr>
            <a:r>
              <a:rPr lang="en-US" sz="4000" dirty="0"/>
              <a:t>Two hidden layers with Leaky </a:t>
            </a:r>
            <a:r>
              <a:rPr lang="en-US" sz="4000" dirty="0" err="1"/>
              <a:t>ReLU</a:t>
            </a:r>
            <a:r>
              <a:rPr lang="en-US" sz="4000" dirty="0"/>
              <a:t>, L2 regularization, and batch normalization for stability and generalization.</a:t>
            </a:r>
          </a:p>
          <a:p>
            <a:pPr marL="685800" indent="-685800">
              <a:buFontTx/>
              <a:buChar char="-"/>
            </a:pPr>
            <a:r>
              <a:rPr lang="en-US" sz="4000" dirty="0"/>
              <a:t>Trained using backpropagation and evaluated with MAE, RMSE, R², and MSE.</a:t>
            </a:r>
            <a:endParaRPr lang="en-US" sz="4800" dirty="0"/>
          </a:p>
          <a:p>
            <a:pPr>
              <a:buNone/>
            </a:pPr>
            <a:r>
              <a:rPr lang="en-US" sz="4400" b="1" dirty="0"/>
              <a:t>Convolutional Neural Network (CNN):</a:t>
            </a:r>
            <a:endParaRPr lang="en-US" sz="4400" dirty="0"/>
          </a:p>
          <a:p>
            <a:pPr marL="685800" indent="-685800">
              <a:buFontTx/>
              <a:buChar char="-"/>
            </a:pPr>
            <a:r>
              <a:rPr lang="en-US" sz="4000" dirty="0"/>
              <a:t>Classifies 32x32 RGB images into fire vs. no fire using two convolutional layers (32 &amp; 64 filters).</a:t>
            </a:r>
          </a:p>
          <a:p>
            <a:pPr marL="685800" indent="-685800">
              <a:buFontTx/>
              <a:buChar char="-"/>
            </a:pPr>
            <a:r>
              <a:rPr lang="en-US" sz="4000" dirty="0"/>
              <a:t>Uses batch normalization, max pooling, and a dense layer for feature extraction and classification.</a:t>
            </a:r>
          </a:p>
          <a:p>
            <a:pPr marL="685800" indent="-685800">
              <a:buFontTx/>
              <a:buChar char="-"/>
            </a:pPr>
            <a:r>
              <a:rPr lang="en-US" sz="4000" dirty="0"/>
              <a:t>Final sigmoid-activated layer outputs binary probabilities; quantified with binary cross-entropy loss (for sigmoid).</a:t>
            </a:r>
          </a:p>
        </p:txBody>
      </p:sp>
      <p:sp>
        <p:nvSpPr>
          <p:cNvPr id="18" name="TextBox 17">
            <a:extLst>
              <a:ext uri="{FF2B5EF4-FFF2-40B4-BE49-F238E27FC236}">
                <a16:creationId xmlns:a16="http://schemas.microsoft.com/office/drawing/2014/main" id="{352B7B01-8886-399B-CB16-AC08F4FCEEB8}"/>
              </a:ext>
            </a:extLst>
          </p:cNvPr>
          <p:cNvSpPr txBox="1"/>
          <p:nvPr/>
        </p:nvSpPr>
        <p:spPr>
          <a:xfrm>
            <a:off x="32494747" y="16139171"/>
            <a:ext cx="8740581" cy="9571851"/>
          </a:xfrm>
          <a:prstGeom prst="rect">
            <a:avLst/>
          </a:prstGeom>
          <a:noFill/>
        </p:spPr>
        <p:txBody>
          <a:bodyPr wrap="square">
            <a:spAutoFit/>
          </a:bodyPr>
          <a:lstStyle/>
          <a:p>
            <a:r>
              <a:rPr lang="en-US" sz="4400" b="1" dirty="0"/>
              <a:t>CNN Model:</a:t>
            </a:r>
            <a:r>
              <a:rPr lang="en-US" sz="4400" dirty="0"/>
              <a:t> Achieved 82.14% validation accuracy, with moderate overfitting indicated by rising validation loss. Despite regularization the model misclassified some samples (82 false positives, 63 false negatives), suggesting potential gains from data augmentation or architecture tuning. This model seems to do well and can be integrated in multi-model fire prediction framework.</a:t>
            </a:r>
            <a:br>
              <a:rPr lang="en-US" sz="4400" dirty="0"/>
            </a:br>
            <a:br>
              <a:rPr lang="en-US" sz="4400" dirty="0"/>
            </a:br>
            <a:endParaRPr lang="en-US" sz="4400" dirty="0"/>
          </a:p>
        </p:txBody>
      </p:sp>
      <p:sp>
        <p:nvSpPr>
          <p:cNvPr id="21" name="TextBox 20">
            <a:extLst>
              <a:ext uri="{FF2B5EF4-FFF2-40B4-BE49-F238E27FC236}">
                <a16:creationId xmlns:a16="http://schemas.microsoft.com/office/drawing/2014/main" id="{97EC9A8A-DEDC-E50D-B03A-D639C7B5E8B5}"/>
              </a:ext>
            </a:extLst>
          </p:cNvPr>
          <p:cNvSpPr txBox="1"/>
          <p:nvPr/>
        </p:nvSpPr>
        <p:spPr>
          <a:xfrm>
            <a:off x="14038013" y="7197591"/>
            <a:ext cx="9093106" cy="8217634"/>
          </a:xfrm>
          <a:prstGeom prst="rect">
            <a:avLst/>
          </a:prstGeom>
          <a:noFill/>
        </p:spPr>
        <p:txBody>
          <a:bodyPr wrap="square">
            <a:spAutoFit/>
          </a:bodyPr>
          <a:lstStyle/>
          <a:p>
            <a:r>
              <a:rPr lang="en-US" sz="4400" b="1" dirty="0"/>
              <a:t>MLP Model:</a:t>
            </a:r>
            <a:r>
              <a:rPr lang="en-US" sz="4400" dirty="0"/>
              <a:t> Demonstrated strong learning on training data but failed to generalize (test R² ≈ 0), indicating overfitting and architectural mismatch for the dataset size and quality. The small size of the dataset could also be the reason of poor performance. Additional regularization and improved feature engineering are needed for better test performance. This model </a:t>
            </a:r>
            <a:r>
              <a:rPr lang="en-US" sz="4400" b="1" dirty="0"/>
              <a:t>must</a:t>
            </a:r>
            <a:r>
              <a:rPr lang="en-US" sz="4400" dirty="0"/>
              <a:t> be redeveloped for further integration in multi-model framework.</a:t>
            </a:r>
          </a:p>
        </p:txBody>
      </p:sp>
      <p:sp>
        <p:nvSpPr>
          <p:cNvPr id="22" name="TextBox 21">
            <a:extLst>
              <a:ext uri="{FF2B5EF4-FFF2-40B4-BE49-F238E27FC236}">
                <a16:creationId xmlns:a16="http://schemas.microsoft.com/office/drawing/2014/main" id="{77821EE0-FE8F-E5C8-85AA-2D95F27B9095}"/>
              </a:ext>
            </a:extLst>
          </p:cNvPr>
          <p:cNvSpPr txBox="1"/>
          <p:nvPr/>
        </p:nvSpPr>
        <p:spPr>
          <a:xfrm>
            <a:off x="14754071" y="22663835"/>
            <a:ext cx="11415177"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3 + 4: Accuracy and loss over epochs for training and validation sets for CNN.</a:t>
            </a:r>
            <a:endParaRPr lang="en-US" sz="2800" dirty="0"/>
          </a:p>
        </p:txBody>
      </p:sp>
      <p:sp>
        <p:nvSpPr>
          <p:cNvPr id="27" name="TextBox 26">
            <a:extLst>
              <a:ext uri="{FF2B5EF4-FFF2-40B4-BE49-F238E27FC236}">
                <a16:creationId xmlns:a16="http://schemas.microsoft.com/office/drawing/2014/main" id="{720671EE-D73E-6A6A-68B2-92DBFCC5DBE6}"/>
              </a:ext>
            </a:extLst>
          </p:cNvPr>
          <p:cNvSpPr txBox="1"/>
          <p:nvPr/>
        </p:nvSpPr>
        <p:spPr>
          <a:xfrm>
            <a:off x="23717004" y="15185064"/>
            <a:ext cx="17004110"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a:t>
            </a:r>
            <a:r>
              <a:rPr lang="en-US" sz="2800" dirty="0">
                <a:latin typeface="Lato" panose="020F0502020204030203" pitchFamily="34" charset="0"/>
                <a:ea typeface="Lato" panose="020F0502020204030203" pitchFamily="34" charset="0"/>
                <a:cs typeface="Lato" panose="020F0502020204030203" pitchFamily="34" charset="0"/>
              </a:rPr>
              <a:t>7 + 8: </a:t>
            </a:r>
            <a:r>
              <a:rPr lang="en-US" sz="2800" b="0" dirty="0">
                <a:effectLst/>
                <a:latin typeface="Lato" panose="020F0502020204030203" pitchFamily="34" charset="0"/>
                <a:ea typeface="Lato" panose="020F0502020204030203" pitchFamily="34" charset="0"/>
                <a:cs typeface="Lato" panose="020F0502020204030203" pitchFamily="34" charset="0"/>
              </a:rPr>
              <a:t>MLP metrics containing loss for training and testing sets and R^2 value. Also contains MAE, RMSE, and MSE.</a:t>
            </a:r>
            <a:endParaRPr lang="en-US" sz="2800" dirty="0"/>
          </a:p>
        </p:txBody>
      </p:sp>
      <p:pic>
        <p:nvPicPr>
          <p:cNvPr id="13" name="Picture 4">
            <a:extLst>
              <a:ext uri="{FF2B5EF4-FFF2-40B4-BE49-F238E27FC236}">
                <a16:creationId xmlns:a16="http://schemas.microsoft.com/office/drawing/2014/main" id="{38563B9D-96A0-EF8B-9B22-60700AE826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69248" y="17314013"/>
            <a:ext cx="5993312" cy="5109905"/>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78A5728-B86C-B7D9-A2E7-9DE45F5B85B2}"/>
              </a:ext>
            </a:extLst>
          </p:cNvPr>
          <p:cNvSpPr txBox="1"/>
          <p:nvPr/>
        </p:nvSpPr>
        <p:spPr>
          <a:xfrm>
            <a:off x="26359661" y="22549091"/>
            <a:ext cx="5802899"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5: Confusion Matrix of the CNN model.</a:t>
            </a:r>
            <a:endParaRPr lang="en-US" sz="2800" dirty="0"/>
          </a:p>
        </p:txBody>
      </p:sp>
      <p:sp>
        <p:nvSpPr>
          <p:cNvPr id="38" name="Shape 72">
            <a:extLst>
              <a:ext uri="{FF2B5EF4-FFF2-40B4-BE49-F238E27FC236}">
                <a16:creationId xmlns:a16="http://schemas.microsoft.com/office/drawing/2014/main" id="{19420BAE-4E55-C38C-DD05-2BFC89B55817}"/>
              </a:ext>
            </a:extLst>
          </p:cNvPr>
          <p:cNvSpPr txBox="1"/>
          <p:nvPr/>
        </p:nvSpPr>
        <p:spPr>
          <a:xfrm>
            <a:off x="14038012" y="29264141"/>
            <a:ext cx="27116008" cy="848706"/>
          </a:xfrm>
          <a:prstGeom prst="rect">
            <a:avLst/>
          </a:prstGeom>
          <a:solidFill>
            <a:srgbClr val="C8102E"/>
          </a:solidFill>
          <a:ln>
            <a:noFill/>
          </a:ln>
        </p:spPr>
        <p:txBody>
          <a:bodyPr lIns="72551" tIns="72551" rIns="72551" bIns="72551"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References</a:t>
            </a:r>
          </a:p>
        </p:txBody>
      </p:sp>
      <p:sp>
        <p:nvSpPr>
          <p:cNvPr id="39" name="TextBox 38">
            <a:extLst>
              <a:ext uri="{FF2B5EF4-FFF2-40B4-BE49-F238E27FC236}">
                <a16:creationId xmlns:a16="http://schemas.microsoft.com/office/drawing/2014/main" id="{7DFE87DC-0C30-5AB4-66C0-A8502F8784FB}"/>
              </a:ext>
            </a:extLst>
          </p:cNvPr>
          <p:cNvSpPr txBox="1"/>
          <p:nvPr/>
        </p:nvSpPr>
        <p:spPr>
          <a:xfrm>
            <a:off x="14038011" y="30482611"/>
            <a:ext cx="27197317" cy="2554545"/>
          </a:xfrm>
          <a:prstGeom prst="rect">
            <a:avLst/>
          </a:prstGeom>
          <a:noFill/>
        </p:spPr>
        <p:txBody>
          <a:bodyPr wrap="square">
            <a:spAutoFit/>
          </a:bodyPr>
          <a:lstStyle/>
          <a:p>
            <a:pPr rtl="0">
              <a:buNone/>
            </a:pPr>
            <a:r>
              <a:rPr lang="en-US" sz="1600" dirty="0">
                <a:latin typeface="Lato" panose="020F0502020204030203" pitchFamily="34" charset="0"/>
                <a:ea typeface="Lato" panose="020F0502020204030203" pitchFamily="34" charset="0"/>
                <a:cs typeface="Lato" panose="020F0502020204030203" pitchFamily="34" charset="0"/>
              </a:rPr>
              <a:t>[1] </a:t>
            </a:r>
            <a:r>
              <a:rPr lang="en-US" sz="1600" b="0" i="0" strike="noStrike" dirty="0">
                <a:effectLst/>
                <a:latin typeface="Lato" panose="020F0502020204030203" pitchFamily="34" charset="0"/>
                <a:ea typeface="Lato" panose="020F0502020204030203" pitchFamily="34" charset="0"/>
                <a:cs typeface="Lato" panose="020F0502020204030203" pitchFamily="34" charset="0"/>
              </a:rPr>
              <a:t>Cortez, P, Morais, A. “A Data Mining Approach to Predict Forest Fires using Meteorological Data”.  In J. Neves, M. F. Santos and J. Machado Eds., New Trends in Artificial Intelligence, </a:t>
            </a:r>
            <a:endParaRPr lang="en-US" sz="16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1600" b="0" i="0" strike="noStrike" dirty="0">
                <a:effectLst/>
                <a:latin typeface="Lato" panose="020F0502020204030203" pitchFamily="34" charset="0"/>
                <a:ea typeface="Lato" panose="020F0502020204030203" pitchFamily="34" charset="0"/>
                <a:cs typeface="Lato" panose="020F0502020204030203" pitchFamily="34" charset="0"/>
              </a:rPr>
              <a:t>Proceedings of the 13th EPIA 2007 - Portuguese Conference on Artificial Intelligence, December, Guimaraes, Portugal, pp. 512-523, 2007. APPIA, ISBN-13 978-989-95618-0-9. </a:t>
            </a:r>
            <a:endParaRPr lang="en-US" sz="16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1600" b="0" i="0" strike="noStrike" dirty="0">
                <a:effectLst/>
                <a:latin typeface="Lato" panose="020F0502020204030203" pitchFamily="34" charset="0"/>
                <a:ea typeface="Lato" panose="020F0502020204030203" pitchFamily="34" charset="0"/>
                <a:cs typeface="Lato" panose="020F0502020204030203" pitchFamily="34" charset="0"/>
              </a:rPr>
              <a:t>Available at: </a:t>
            </a:r>
            <a:r>
              <a:rPr lang="en-US" sz="1600" b="0" i="0" strike="noStrike" dirty="0">
                <a:effectLst/>
                <a:latin typeface="Lato" panose="020F0502020204030203" pitchFamily="34" charset="0"/>
                <a:ea typeface="Lato" panose="020F0502020204030203" pitchFamily="34" charset="0"/>
                <a:cs typeface="Lato" panose="020F0502020204030203" pitchFamily="34" charset="0"/>
                <a:hlinkClick r:id="rId5">
                  <a:extLst>
                    <a:ext uri="{A12FA001-AC4F-418D-AE19-62706E023703}">
                      <ahyp:hlinkClr xmlns:ahyp="http://schemas.microsoft.com/office/drawing/2018/hyperlinkcolor" val="tx"/>
                    </a:ext>
                  </a:extLst>
                </a:hlinkClick>
              </a:rPr>
              <a:t>http://www.dsi.uminho.pt/~pcortez/fires.pdf</a:t>
            </a:r>
            <a:endParaRPr lang="en-US" sz="1600" b="0" i="0" strike="noStrike" dirty="0">
              <a:effectLst/>
              <a:latin typeface="Lato" panose="020F0502020204030203" pitchFamily="34" charset="0"/>
              <a:ea typeface="Lato" panose="020F0502020204030203" pitchFamily="34" charset="0"/>
              <a:cs typeface="Lato" panose="020F0502020204030203" pitchFamily="34" charset="0"/>
            </a:endParaRPr>
          </a:p>
          <a:p>
            <a:pPr rtl="0">
              <a:buNone/>
            </a:pPr>
            <a:endParaRPr lang="en-US" sz="1600" dirty="0">
              <a:latin typeface="Lato" panose="020F0502020204030203" pitchFamily="34" charset="0"/>
              <a:ea typeface="Lato" panose="020F0502020204030203" pitchFamily="34" charset="0"/>
              <a:cs typeface="Lato" panose="020F0502020204030203" pitchFamily="34" charset="0"/>
            </a:endParaRPr>
          </a:p>
          <a:p>
            <a:pPr rtl="0">
              <a:buNone/>
            </a:pPr>
            <a:r>
              <a:rPr lang="en-US" sz="1600" b="0" dirty="0">
                <a:effectLst/>
                <a:latin typeface="Lato" panose="020F0502020204030203" pitchFamily="34" charset="0"/>
                <a:ea typeface="Lato" panose="020F0502020204030203" pitchFamily="34" charset="0"/>
                <a:cs typeface="Lato" panose="020F0502020204030203" pitchFamily="34" charset="0"/>
              </a:rPr>
              <a:t>[2] </a:t>
            </a:r>
            <a:r>
              <a:rPr lang="en-US" sz="1600" b="0" i="0" strike="noStrike" dirty="0">
                <a:effectLst/>
                <a:latin typeface="Lato" panose="020F0502020204030203" pitchFamily="34" charset="0"/>
                <a:ea typeface="Lato" panose="020F0502020204030203" pitchFamily="34" charset="0"/>
                <a:cs typeface="Lato" panose="020F0502020204030203" pitchFamily="34" charset="0"/>
              </a:rPr>
              <a:t>El-</a:t>
            </a:r>
            <a:r>
              <a:rPr lang="en-US" sz="1600" b="0" i="0" strike="noStrike" dirty="0" err="1">
                <a:effectLst/>
                <a:latin typeface="Lato" panose="020F0502020204030203" pitchFamily="34" charset="0"/>
                <a:ea typeface="Lato" panose="020F0502020204030203" pitchFamily="34" charset="0"/>
                <a:cs typeface="Lato" panose="020F0502020204030203" pitchFamily="34" charset="0"/>
              </a:rPr>
              <a:t>Madafri</a:t>
            </a:r>
            <a:r>
              <a:rPr lang="en-US" sz="1600" b="0" i="0" strike="noStrike" dirty="0">
                <a:effectLst/>
                <a:latin typeface="Lato" panose="020F0502020204030203" pitchFamily="34" charset="0"/>
                <a:ea typeface="Lato" panose="020F0502020204030203" pitchFamily="34" charset="0"/>
                <a:cs typeface="Lato" panose="020F0502020204030203" pitchFamily="34" charset="0"/>
              </a:rPr>
              <a:t> I, Peña M, Olmedo-Torre N. “The Wildfire Dataset: Enhancing Deep Learning-Based Forest Fire Detection with a Diverse Evolving Open-Source Dataset Focused on Data Representativeness and a Novel Multi-Task Learning Approach”. Forests. 2023; 14(9):1697. </a:t>
            </a:r>
            <a:r>
              <a:rPr lang="en-US" sz="1600" b="0" i="0" strike="noStrike" dirty="0">
                <a:effectLst/>
                <a:latin typeface="Lato" panose="020F0502020204030203" pitchFamily="34" charset="0"/>
                <a:ea typeface="Lato" panose="020F0502020204030203" pitchFamily="34" charset="0"/>
                <a:cs typeface="Lato" panose="020F0502020204030203" pitchFamily="34" charset="0"/>
                <a:hlinkClick r:id="rId6">
                  <a:extLst>
                    <a:ext uri="{A12FA001-AC4F-418D-AE19-62706E023703}">
                      <ahyp:hlinkClr xmlns:ahyp="http://schemas.microsoft.com/office/drawing/2018/hyperlinkcolor" val="tx"/>
                    </a:ext>
                  </a:extLst>
                </a:hlinkClick>
              </a:rPr>
              <a:t>https://doi.org/10.3390/f14091697</a:t>
            </a:r>
            <a:endParaRPr lang="en-US" sz="1600" b="0" dirty="0">
              <a:effectLst/>
              <a:latin typeface="Lato" panose="020F0502020204030203" pitchFamily="34" charset="0"/>
              <a:ea typeface="Lato" panose="020F0502020204030203" pitchFamily="34" charset="0"/>
              <a:cs typeface="Lato" panose="020F0502020204030203" pitchFamily="34" charset="0"/>
            </a:endParaRPr>
          </a:p>
          <a:p>
            <a:pPr>
              <a:buNone/>
            </a:pPr>
            <a:br>
              <a:rPr lang="en-US" sz="3200" dirty="0">
                <a:latin typeface="Lato" panose="020F0502020204030203" pitchFamily="34" charset="0"/>
                <a:ea typeface="Lato" panose="020F0502020204030203" pitchFamily="34" charset="0"/>
                <a:cs typeface="Lato" panose="020F0502020204030203" pitchFamily="34" charset="0"/>
              </a:rPr>
            </a:br>
            <a:endParaRPr lang="en-US" sz="3200" dirty="0">
              <a:latin typeface="Lato" panose="020F0502020204030203" pitchFamily="34" charset="0"/>
              <a:ea typeface="Lato" panose="020F0502020204030203" pitchFamily="34" charset="0"/>
              <a:cs typeface="Lato" panose="020F0502020204030203" pitchFamily="34" charset="0"/>
            </a:endParaRPr>
          </a:p>
        </p:txBody>
      </p:sp>
      <p:sp>
        <p:nvSpPr>
          <p:cNvPr id="42" name="TextBox 41">
            <a:extLst>
              <a:ext uri="{FF2B5EF4-FFF2-40B4-BE49-F238E27FC236}">
                <a16:creationId xmlns:a16="http://schemas.microsoft.com/office/drawing/2014/main" id="{07EB613E-3AA7-FD30-DF13-C26ADCBC61D9}"/>
              </a:ext>
            </a:extLst>
          </p:cNvPr>
          <p:cNvSpPr txBox="1"/>
          <p:nvPr/>
        </p:nvSpPr>
        <p:spPr>
          <a:xfrm>
            <a:off x="23717004" y="12387935"/>
            <a:ext cx="13777885" cy="523220"/>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6: Loss and R^2 over 400 epochs of training and testing data for MLP model.</a:t>
            </a:r>
            <a:endParaRPr lang="en-US" sz="2800" dirty="0"/>
          </a:p>
        </p:txBody>
      </p:sp>
      <p:pic>
        <p:nvPicPr>
          <p:cNvPr id="7" name="Picture 6">
            <a:extLst>
              <a:ext uri="{FF2B5EF4-FFF2-40B4-BE49-F238E27FC236}">
                <a16:creationId xmlns:a16="http://schemas.microsoft.com/office/drawing/2014/main" id="{89B161DA-44C4-39BA-D634-F875E5D72772}"/>
              </a:ext>
            </a:extLst>
          </p:cNvPr>
          <p:cNvPicPr>
            <a:picLocks noChangeAspect="1"/>
          </p:cNvPicPr>
          <p:nvPr/>
        </p:nvPicPr>
        <p:blipFill>
          <a:blip r:embed="rId7"/>
          <a:stretch>
            <a:fillRect/>
          </a:stretch>
        </p:blipFill>
        <p:spPr>
          <a:xfrm>
            <a:off x="7662198" y="27172394"/>
            <a:ext cx="5316078" cy="3414569"/>
          </a:xfrm>
          <a:prstGeom prst="rect">
            <a:avLst/>
          </a:prstGeom>
        </p:spPr>
      </p:pic>
      <p:sp>
        <p:nvSpPr>
          <p:cNvPr id="16" name="TextBox 15">
            <a:extLst>
              <a:ext uri="{FF2B5EF4-FFF2-40B4-BE49-F238E27FC236}">
                <a16:creationId xmlns:a16="http://schemas.microsoft.com/office/drawing/2014/main" id="{11AF7A77-2D0B-493B-FBEF-EA78275EFBAA}"/>
              </a:ext>
            </a:extLst>
          </p:cNvPr>
          <p:cNvSpPr txBox="1"/>
          <p:nvPr/>
        </p:nvSpPr>
        <p:spPr>
          <a:xfrm>
            <a:off x="7662198" y="30914417"/>
            <a:ext cx="5747919"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2. A no-fire image from ”The Wildfire Dataset” [2]. </a:t>
            </a:r>
            <a:endParaRPr lang="en-US" sz="2800" dirty="0"/>
          </a:p>
        </p:txBody>
      </p:sp>
      <p:pic>
        <p:nvPicPr>
          <p:cNvPr id="23" name="Picture 22">
            <a:extLst>
              <a:ext uri="{FF2B5EF4-FFF2-40B4-BE49-F238E27FC236}">
                <a16:creationId xmlns:a16="http://schemas.microsoft.com/office/drawing/2014/main" id="{A26229CD-1658-8479-AA8D-C0908EC1EAE2}"/>
              </a:ext>
            </a:extLst>
          </p:cNvPr>
          <p:cNvPicPr>
            <a:picLocks noChangeAspect="1"/>
          </p:cNvPicPr>
          <p:nvPr/>
        </p:nvPicPr>
        <p:blipFill>
          <a:blip r:embed="rId8"/>
          <a:stretch>
            <a:fillRect/>
          </a:stretch>
        </p:blipFill>
        <p:spPr>
          <a:xfrm>
            <a:off x="34516322" y="13220936"/>
            <a:ext cx="4896533" cy="1238423"/>
          </a:xfrm>
          <a:prstGeom prst="rect">
            <a:avLst/>
          </a:prstGeom>
        </p:spPr>
      </p:pic>
      <p:pic>
        <p:nvPicPr>
          <p:cNvPr id="28" name="Picture 27">
            <a:extLst>
              <a:ext uri="{FF2B5EF4-FFF2-40B4-BE49-F238E27FC236}">
                <a16:creationId xmlns:a16="http://schemas.microsoft.com/office/drawing/2014/main" id="{1D1A7B0B-8F78-A0A3-1974-2253364CC4FD}"/>
              </a:ext>
            </a:extLst>
          </p:cNvPr>
          <p:cNvPicPr>
            <a:picLocks noChangeAspect="1"/>
          </p:cNvPicPr>
          <p:nvPr/>
        </p:nvPicPr>
        <p:blipFill>
          <a:blip r:embed="rId9"/>
          <a:stretch>
            <a:fillRect/>
          </a:stretch>
        </p:blipFill>
        <p:spPr>
          <a:xfrm>
            <a:off x="23847473" y="13220936"/>
            <a:ext cx="10236149" cy="1809369"/>
          </a:xfrm>
          <a:prstGeom prst="rect">
            <a:avLst/>
          </a:prstGeom>
        </p:spPr>
      </p:pic>
      <p:pic>
        <p:nvPicPr>
          <p:cNvPr id="29" name="Picture 2">
            <a:extLst>
              <a:ext uri="{FF2B5EF4-FFF2-40B4-BE49-F238E27FC236}">
                <a16:creationId xmlns:a16="http://schemas.microsoft.com/office/drawing/2014/main" id="{5A9552FC-7EFE-D1BB-D80F-9F94C094D99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847473" y="7234762"/>
            <a:ext cx="7568821" cy="46407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792D15E-8E88-E8E1-C58F-C104854C16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494747" y="7202872"/>
            <a:ext cx="7876589" cy="4832092"/>
          </a:xfrm>
          <a:prstGeom prst="rect">
            <a:avLst/>
          </a:prstGeom>
          <a:noFill/>
          <a:extLst>
            <a:ext uri="{909E8E84-426E-40DD-AFC4-6F175D3DCCD1}">
              <a14:hiddenFill xmlns:a14="http://schemas.microsoft.com/office/drawing/2010/main">
                <a:solidFill>
                  <a:srgbClr val="FFFFFF"/>
                </a:solidFill>
              </a14:hiddenFill>
            </a:ext>
          </a:extLst>
        </p:spPr>
      </p:pic>
      <p:sp>
        <p:nvSpPr>
          <p:cNvPr id="20" name="Shape 79">
            <a:extLst>
              <a:ext uri="{FF2B5EF4-FFF2-40B4-BE49-F238E27FC236}">
                <a16:creationId xmlns:a16="http://schemas.microsoft.com/office/drawing/2014/main" id="{D8F819B1-F6ED-0F12-1400-522A695BED0E}"/>
              </a:ext>
            </a:extLst>
          </p:cNvPr>
          <p:cNvSpPr txBox="1"/>
          <p:nvPr/>
        </p:nvSpPr>
        <p:spPr>
          <a:xfrm>
            <a:off x="14038012" y="24672640"/>
            <a:ext cx="27116008" cy="1000324"/>
          </a:xfrm>
          <a:prstGeom prst="rect">
            <a:avLst/>
          </a:prstGeom>
          <a:solidFill>
            <a:srgbClr val="C8102E"/>
          </a:solidFill>
          <a:ln>
            <a:noFill/>
          </a:ln>
        </p:spPr>
        <p:txBody>
          <a:bodyPr lIns="101583" tIns="101583" rIns="101583" bIns="101583"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Conclusion and Future Work</a:t>
            </a:r>
          </a:p>
        </p:txBody>
      </p:sp>
      <p:sp>
        <p:nvSpPr>
          <p:cNvPr id="26" name="TextBox 25">
            <a:extLst>
              <a:ext uri="{FF2B5EF4-FFF2-40B4-BE49-F238E27FC236}">
                <a16:creationId xmlns:a16="http://schemas.microsoft.com/office/drawing/2014/main" id="{A8A3C69E-6471-DA75-41BD-221300D818F5}"/>
              </a:ext>
            </a:extLst>
          </p:cNvPr>
          <p:cNvSpPr txBox="1"/>
          <p:nvPr/>
        </p:nvSpPr>
        <p:spPr>
          <a:xfrm>
            <a:off x="14016902" y="25884953"/>
            <a:ext cx="27137118" cy="2800767"/>
          </a:xfrm>
          <a:prstGeom prst="rect">
            <a:avLst/>
          </a:prstGeom>
          <a:noFill/>
        </p:spPr>
        <p:txBody>
          <a:bodyPr wrap="square">
            <a:spAutoFit/>
          </a:bodyPr>
          <a:lstStyle/>
          <a:p>
            <a:r>
              <a:rPr lang="en-US" sz="4400" dirty="0"/>
              <a:t>Robust validation strategies and expanded datasets will be critical to improving performance and reliability. A key direction for future work is the development of a dual-model framework that leverages the CNN for image-based classification and a refined MLP for predicting continuous variables, integrating both models into a more comprehensive system for environmental analysis.</a:t>
            </a:r>
          </a:p>
        </p:txBody>
      </p:sp>
    </p:spTree>
    <p:extLst>
      <p:ext uri="{BB962C8B-B14F-4D97-AF65-F5344CB8AC3E}">
        <p14:creationId xmlns:p14="http://schemas.microsoft.com/office/powerpoint/2010/main" val="306476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eamsChannelId xmlns="251e4a2b-1a33-4513-9017-f0bb34cca31e" xsi:nil="true"/>
    <Invited_Members xmlns="251e4a2b-1a33-4513-9017-f0bb34cca31e" xsi:nil="true"/>
    <Math_Settings xmlns="251e4a2b-1a33-4513-9017-f0bb34cca31e" xsi:nil="true"/>
    <Self_Registration_Enabled xmlns="251e4a2b-1a33-4513-9017-f0bb34cca31e" xsi:nil="true"/>
    <AppVersion xmlns="251e4a2b-1a33-4513-9017-f0bb34cca31e" xsi:nil="true"/>
    <LMS_Mappings xmlns="251e4a2b-1a33-4513-9017-f0bb34cca31e" xsi:nil="true"/>
    <IsNotebookLocked xmlns="251e4a2b-1a33-4513-9017-f0bb34cca31e" xsi:nil="true"/>
    <Templates xmlns="251e4a2b-1a33-4513-9017-f0bb34cca31e" xsi:nil="true"/>
    <NotebookType xmlns="251e4a2b-1a33-4513-9017-f0bb34cca31e" xsi:nil="true"/>
    <FolderType xmlns="251e4a2b-1a33-4513-9017-f0bb34cca31e" xsi:nil="true"/>
    <DefaultSectionNames xmlns="251e4a2b-1a33-4513-9017-f0bb34cca31e" xsi:nil="true"/>
    <Has_Leaders_Only_SectionGroup xmlns="251e4a2b-1a33-4513-9017-f0bb34cca31e" xsi:nil="true"/>
    <Owner xmlns="251e4a2b-1a33-4513-9017-f0bb34cca31e">
      <UserInfo>
        <DisplayName/>
        <AccountId xsi:nil="true"/>
        <AccountType/>
      </UserInfo>
    </Owner>
    <Is_Collaboration_Space_Locked xmlns="251e4a2b-1a33-4513-9017-f0bb34cca31e" xsi:nil="true"/>
    <Distribution_Groups xmlns="251e4a2b-1a33-4513-9017-f0bb34cca31e" xsi:nil="true"/>
    <Invited_Leaders xmlns="251e4a2b-1a33-4513-9017-f0bb34cca31e" xsi:nil="true"/>
    <Members xmlns="251e4a2b-1a33-4513-9017-f0bb34cca31e">
      <UserInfo>
        <DisplayName/>
        <AccountId xsi:nil="true"/>
        <AccountType/>
      </UserInfo>
    </Members>
    <Member_Groups xmlns="251e4a2b-1a33-4513-9017-f0bb34cca31e">
      <UserInfo>
        <DisplayName/>
        <AccountId xsi:nil="true"/>
        <AccountType/>
      </UserInfo>
    </Member_Groups>
    <CultureName xmlns="251e4a2b-1a33-4513-9017-f0bb34cca31e" xsi:nil="true"/>
    <Leaders xmlns="251e4a2b-1a33-4513-9017-f0bb34cca31e">
      <UserInfo>
        <DisplayName/>
        <AccountId xsi:nil="true"/>
        <AccountType/>
      </UserInfo>
    </Leaders>
    <TaxCatchAll xmlns="e9952153-5aa5-42e8-8300-ccc6398e6c31" xsi:nil="true"/>
    <lcf76f155ced4ddcb4097134ff3c332f xmlns="251e4a2b-1a33-4513-9017-f0bb34cca31e">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96936867FB4BD4CBBB1D9655E335B32" ma:contentTypeVersion="38" ma:contentTypeDescription="Create a new document." ma:contentTypeScope="" ma:versionID="361c3cd5f1c98f95f9d571e756a51304">
  <xsd:schema xmlns:xsd="http://www.w3.org/2001/XMLSchema" xmlns:xs="http://www.w3.org/2001/XMLSchema" xmlns:p="http://schemas.microsoft.com/office/2006/metadata/properties" xmlns:ns2="251e4a2b-1a33-4513-9017-f0bb34cca31e" xmlns:ns3="8380694e-df13-4765-9f36-450494b12df9" xmlns:ns4="e9952153-5aa5-42e8-8300-ccc6398e6c31" targetNamespace="http://schemas.microsoft.com/office/2006/metadata/properties" ma:root="true" ma:fieldsID="2a7a4d7a194afafab4501530be61863a" ns2:_="" ns3:_="" ns4:_="">
    <xsd:import namespace="251e4a2b-1a33-4513-9017-f0bb34cca31e"/>
    <xsd:import namespace="8380694e-df13-4765-9f36-450494b12df9"/>
    <xsd:import namespace="e9952153-5aa5-42e8-8300-ccc6398e6c3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1e4a2b-1a33-4513-9017-f0bb34cca31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GenerationTime" ma:index="30" nillable="true" ma:displayName="MediaServiceGenerationTime" ma:hidden="true" ma:internalName="MediaServiceGenerationTime" ma:readOnly="true">
      <xsd:simpleType>
        <xsd:restriction base="dms:Text"/>
      </xsd:simpleType>
    </xsd:element>
    <xsd:element name="MediaServiceEventHashCode" ma:index="31" nillable="true" ma:displayName="MediaServiceEventHashCode" ma:hidden="true" ma:internalName="MediaServiceEventHashCode" ma:readOnly="true">
      <xsd:simpleType>
        <xsd:restriction base="dms:Text"/>
      </xsd:simpleType>
    </xsd:element>
    <xsd:element name="MediaServiceDateTaken" ma:index="32" nillable="true" ma:displayName="MediaServiceDateTaken" ma:hidden="true" ma:internalName="MediaServiceDateTaken" ma:readOnly="true">
      <xsd:simpleType>
        <xsd:restriction base="dms:Text"/>
      </xsd:simpleType>
    </xsd:element>
    <xsd:element name="MediaServiceOCR" ma:index="33" nillable="true" ma:displayName="Extracted Text" ma:internalName="MediaServiceOCR" ma:readOnly="true">
      <xsd:simpleType>
        <xsd:restriction base="dms:Note">
          <xsd:maxLength value="255"/>
        </xsd:restriction>
      </xsd:simpleType>
    </xsd:element>
    <xsd:element name="MediaServiceAutoKeyPoints" ma:index="34" nillable="true" ma:displayName="MediaServiceAutoKeyPoints" ma:hidden="true" ma:internalName="MediaServiceAutoKeyPoints" ma:readOnly="true">
      <xsd:simpleType>
        <xsd:restriction base="dms:Note"/>
      </xsd:simpleType>
    </xsd:element>
    <xsd:element name="MediaServiceKeyPoints" ma:index="35" nillable="true" ma:displayName="KeyPoints" ma:internalName="MediaServiceKeyPoints" ma:readOnly="true">
      <xsd:simpleType>
        <xsd:restriction base="dms:Note">
          <xsd:maxLength value="255"/>
        </xsd:restriction>
      </xsd:simpleType>
    </xsd:element>
    <xsd:element name="MediaLengthInSeconds" ma:index="38" nillable="true" ma:displayName="MediaLengthInSeconds" ma:hidden="true" ma:internalName="MediaLengthInSeconds" ma:readOnly="true">
      <xsd:simpleType>
        <xsd:restriction base="dms:Unknown"/>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99a8f194-becd-4f93-a34b-b9b3045b7873" ma:termSetId="09814cd3-568e-fe90-9814-8d621ff8fb84" ma:anchorId="fba54fb3-c3e1-fe81-a776-ca4b69148c4d" ma:open="true" ma:isKeyword="false">
      <xsd:complexType>
        <xsd:sequence>
          <xsd:element ref="pc:Terms" minOccurs="0" maxOccurs="1"/>
        </xsd:sequence>
      </xsd:complexType>
    </xsd:element>
    <xsd:element name="MediaServiceLocation" ma:index="42" nillable="true" ma:displayName="Location" ma:indexed="true" ma:internalName="MediaServiceLocation" ma:readOnly="true">
      <xsd:simpleType>
        <xsd:restriction base="dms:Text"/>
      </xsd:simpleType>
    </xsd:element>
    <xsd:element name="MediaServiceObjectDetectorVersions" ma:index="43" nillable="true" ma:displayName="MediaServiceObjectDetectorVersions" ma:hidden="true" ma:indexed="true" ma:internalName="MediaServiceObjectDetectorVersions" ma:readOnly="true">
      <xsd:simpleType>
        <xsd:restriction base="dms:Text"/>
      </xsd:simpleType>
    </xsd:element>
    <xsd:element name="MediaServiceSearchProperties" ma:index="4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80694e-df13-4765-9f36-450494b12df9" elementFormDefault="qualified">
    <xsd:import namespace="http://schemas.microsoft.com/office/2006/documentManagement/types"/>
    <xsd:import namespace="http://schemas.microsoft.com/office/infopath/2007/PartnerControls"/>
    <xsd:element name="SharedWithUsers" ma:index="3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9952153-5aa5-42e8-8300-ccc6398e6c31" elementFormDefault="qualified">
    <xsd:import namespace="http://schemas.microsoft.com/office/2006/documentManagement/types"/>
    <xsd:import namespace="http://schemas.microsoft.com/office/infopath/2007/PartnerControls"/>
    <xsd:element name="TaxCatchAll" ma:index="41" nillable="true" ma:displayName="Taxonomy Catch All Column" ma:hidden="true" ma:list="{53582677-507c-480e-b47d-c119b048ca4c}" ma:internalName="TaxCatchAll" ma:showField="CatchAllData" ma:web="8380694e-df13-4765-9f36-450494b1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B731D7-F5BF-4D0E-BEA0-A10CED407C8E}">
  <ds:schemaRefs>
    <ds:schemaRef ds:uri="http://schemas.microsoft.com/sharepoint/v3/contenttype/forms"/>
  </ds:schemaRefs>
</ds:datastoreItem>
</file>

<file path=customXml/itemProps2.xml><?xml version="1.0" encoding="utf-8"?>
<ds:datastoreItem xmlns:ds="http://schemas.openxmlformats.org/officeDocument/2006/customXml" ds:itemID="{EA5F3152-1B22-4120-90AD-ABECC3E883B9}">
  <ds:schemaRefs>
    <ds:schemaRef ds:uri="http://purl.org/dc/dcmitype/"/>
    <ds:schemaRef ds:uri="http://purl.org/dc/elements/1.1/"/>
    <ds:schemaRef ds:uri="http://purl.org/dc/terms/"/>
    <ds:schemaRef ds:uri="http://schemas.microsoft.com/office/2006/metadata/properties"/>
    <ds:schemaRef ds:uri="http://schemas.openxmlformats.org/package/2006/metadata/core-properties"/>
    <ds:schemaRef ds:uri="8380694e-df13-4765-9f36-450494b12df9"/>
    <ds:schemaRef ds:uri="http://schemas.microsoft.com/office/2006/documentManagement/types"/>
    <ds:schemaRef ds:uri="http://www.w3.org/XML/1998/namespace"/>
    <ds:schemaRef ds:uri="http://schemas.microsoft.com/office/infopath/2007/PartnerControls"/>
    <ds:schemaRef ds:uri="e9952153-5aa5-42e8-8300-ccc6398e6c31"/>
    <ds:schemaRef ds:uri="251e4a2b-1a33-4513-9017-f0bb34cca31e"/>
  </ds:schemaRefs>
</ds:datastoreItem>
</file>

<file path=customXml/itemProps3.xml><?xml version="1.0" encoding="utf-8"?>
<ds:datastoreItem xmlns:ds="http://schemas.openxmlformats.org/officeDocument/2006/customXml" ds:itemID="{7717D36E-5DB5-4546-9539-BCB69F065F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1e4a2b-1a33-4513-9017-f0bb34cca31e"/>
    <ds:schemaRef ds:uri="8380694e-df13-4765-9f36-450494b12df9"/>
    <ds:schemaRef ds:uri="e9952153-5aa5-42e8-8300-ccc6398e6c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6728</TotalTime>
  <Words>710</Words>
  <Application>Microsoft Macintosh PowerPoint</Application>
  <PresentationFormat>Custom</PresentationFormat>
  <Paragraphs>34</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Lato</vt:lpstr>
      <vt:lpstr>Office Theme</vt:lpstr>
      <vt:lpstr>PowerPoint Presentation</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Todor Kiryazov</dc:creator>
  <cp:lastModifiedBy>Jocelyn Min</cp:lastModifiedBy>
  <cp:revision>181</cp:revision>
  <cp:lastPrinted>2023-11-28T16:11:08Z</cp:lastPrinted>
  <dcterms:created xsi:type="dcterms:W3CDTF">2012-02-02T18:01:45Z</dcterms:created>
  <dcterms:modified xsi:type="dcterms:W3CDTF">2025-04-15T02:40:13Z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0x010100896936867FB4BD4CBBB1D9655E335B32</vt:lpwstr>
  </property>
  <property fmtid="{D5CDD505-2E9C-101B-9397-08002B2CF9AE}" pid="3" name="MediaServiceImageTags">
    <vt:lpwstr/>
  </property>
</Properties>
</file>